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00000"/>
            <a:ext cx="5700000" cy="295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00000" y="5900000"/>
            <a:ext cx="3450000" cy="96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00000" y="3900000"/>
            <a:ext cx="800000" cy="20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00000" y="3900000"/>
            <a:ext cx="2650000" cy="20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00000" y="0"/>
            <a:ext cx="2650000" cy="39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000" y="1200000"/>
            <a:ext cx="500000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8F00FF"/>
                </a:solidFill>
                <a:latin typeface="Georgia"/>
              </a:defRPr>
            </a:pPr>
            <a:r>
              <a:rPr dirty="0" err="1"/>
              <a:t>BotWork</a:t>
            </a:r>
            <a:endParaRPr dirty="0"/>
          </a:p>
          <a:p>
            <a:pPr algn="l">
              <a:spcAft>
                <a:spcPts val="400"/>
              </a:spcAft>
              <a:defRPr sz="800" b="0">
                <a:solidFill>
                  <a:srgbClr val="1E1E1E"/>
                </a:solidFill>
                <a:latin typeface="Georgia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00000" y="4100000"/>
            <a:ext cx="500000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0">
                <a:solidFill>
                  <a:srgbClr val="1E1E1E"/>
                </a:solidFill>
                <a:latin typeface="Georgia"/>
              </a:defRPr>
            </a:pPr>
            <a:r>
              <a:rPr lang="en-US" sz="1600" dirty="0"/>
              <a:t>1. </a:t>
            </a:r>
            <a:r>
              <a:rPr lang="ru-RU" sz="1600" dirty="0"/>
              <a:t>Номер заявки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/>
              <a:t>__________</a:t>
            </a:r>
            <a:br>
              <a:rPr lang="en-US" sz="1600" dirty="0"/>
            </a:br>
            <a:r>
              <a:rPr lang="en-US" sz="1600" dirty="0"/>
              <a:t>2. </a:t>
            </a:r>
            <a:r>
              <a:rPr lang="ru-RU" sz="1600" dirty="0"/>
              <a:t>Проект</a:t>
            </a:r>
            <a:r>
              <a:rPr lang="en-RU" sz="1600" dirty="0"/>
              <a:t>:</a:t>
            </a:r>
            <a:br>
              <a:rPr lang="en-RU" sz="1600" dirty="0"/>
            </a:br>
            <a:r>
              <a:rPr lang="ru-RU" sz="1600" dirty="0"/>
              <a:t>Платформа для создания</a:t>
            </a:r>
          </a:p>
          <a:p>
            <a:pPr>
              <a:spcAft>
                <a:spcPts val="400"/>
              </a:spcAft>
              <a:defRPr sz="2400" b="0">
                <a:solidFill>
                  <a:srgbClr val="1E1E1E"/>
                </a:solidFill>
                <a:latin typeface="Georgia"/>
              </a:defRPr>
            </a:pPr>
            <a:r>
              <a:rPr lang="en-GB" sz="1600" dirty="0"/>
              <a:t>Telegram-</a:t>
            </a:r>
            <a:r>
              <a:rPr lang="ru-RU" sz="1600" dirty="0"/>
              <a:t>ботов для бизнеса</a:t>
            </a:r>
            <a:endParaRPr lang="en-US" sz="1600" dirty="0"/>
          </a:p>
          <a:p>
            <a:pPr>
              <a:spcAft>
                <a:spcPts val="400"/>
              </a:spcAft>
              <a:defRPr sz="2400" b="0">
                <a:solidFill>
                  <a:srgbClr val="1E1E1E"/>
                </a:solidFill>
                <a:latin typeface="Georgia"/>
              </a:defRPr>
            </a:pPr>
            <a:r>
              <a:rPr lang="en-US" sz="1600" dirty="0"/>
              <a:t>3. </a:t>
            </a:r>
            <a:r>
              <a:rPr sz="1600" dirty="0" err="1"/>
              <a:t>Заявитель</a:t>
            </a:r>
            <a:r>
              <a:rPr sz="1600" dirty="0"/>
              <a:t>: </a:t>
            </a:r>
            <a:br>
              <a:rPr lang="en-US" sz="1600" dirty="0"/>
            </a:br>
            <a:r>
              <a:rPr sz="1600" dirty="0"/>
              <a:t>Репин Артемий, </a:t>
            </a:r>
            <a:r>
              <a:rPr sz="1600" dirty="0" err="1"/>
              <a:t>Мартынов</a:t>
            </a:r>
            <a:r>
              <a:rPr sz="1600" dirty="0"/>
              <a:t> </a:t>
            </a:r>
            <a:r>
              <a:rPr sz="1600" dirty="0" err="1"/>
              <a:t>Борис</a:t>
            </a:r>
            <a:r>
              <a:rPr sz="1600" dirty="0"/>
              <a:t>, </a:t>
            </a:r>
            <a:r>
              <a:rPr sz="1600" dirty="0" err="1"/>
              <a:t>Харисов</a:t>
            </a:r>
            <a:r>
              <a:rPr sz="1600" dirty="0"/>
              <a:t> </a:t>
            </a:r>
            <a:r>
              <a:rPr sz="1600" dirty="0" err="1"/>
              <a:t>Денис</a:t>
            </a:r>
            <a:endParaRPr sz="1600" dirty="0"/>
          </a:p>
        </p:txBody>
      </p:sp>
      <p:sp>
        <p:nvSpPr>
          <p:cNvPr id="9" name="Rectangle 8"/>
          <p:cNvSpPr/>
          <p:nvPr/>
        </p:nvSpPr>
        <p:spPr>
          <a:xfrm>
            <a:off x="6700000" y="1500000"/>
            <a:ext cx="2300000" cy="6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Студенческий Стартап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0000" y="2200000"/>
            <a:ext cx="1700000" cy="42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VII очередь</a:t>
            </a:r>
          </a:p>
        </p:txBody>
      </p:sp>
      <p:pic>
        <p:nvPicPr>
          <p:cNvPr id="11" name="Picture 10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0" y="333000"/>
            <a:ext cx="2002000" cy="936000"/>
          </a:xfrm>
          <a:prstGeom prst="rect">
            <a:avLst/>
          </a:prstGeom>
        </p:spPr>
      </p:pic>
      <p:pic>
        <p:nvPicPr>
          <p:cNvPr id="12" name="Picture 11" descr="picture_right_corner_first_l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000" y="4060000"/>
            <a:ext cx="1858000" cy="172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О продукте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1. Какую проблему решает продукт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0">
                <a:solidFill>
                  <a:srgbClr val="1E1E1E"/>
                </a:solidFill>
                <a:latin typeface="Georgia"/>
              </a:defRPr>
            </a:pPr>
            <a:r>
              <a:t>Малый и средний бизнес в России активно использует Telegram для продаж и коммуникации с клиентами. По оценкам, более 50 000–70 000 предпринимателей ведут продажи через Telegram.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0">
                <a:solidFill>
                  <a:srgbClr val="1E1E1E"/>
                </a:solidFill>
                <a:latin typeface="Georgia"/>
              </a:defRPr>
            </a:pPr>
            <a:r>
              <a:t>Однако большинство из них не имеет технических навыков для создания автоматизированных ботов и вынуждены обрабатывать заявки вручную. Существующие платформы-конструкторы (BotHelp, SendPulse, Salebot) стоят от 10 000 до 70 000 ₽ и сложны в освоении.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2. Описание конечного продукта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0">
                <a:solidFill>
                  <a:srgbClr val="1E1E1E"/>
                </a:solidFill>
                <a:latin typeface="Georgia"/>
              </a:defRPr>
            </a:pPr>
            <a:r>
              <a:t>BotWork — сервис создания Telegram-ботов «под ключ»: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Автоматическая воронка продаж (приветствие → презентация → оплата)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Интеграция платежей (ЮKassa, СБП, Crypto)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Настройка под нишу (курсы, товары, услуги)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Визуальный конструктор для проектирования логики бота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D493D"/>
                </a:solidFill>
                <a:latin typeface="Georgia"/>
              </a:defRPr>
            </a:pPr>
            <a:r>
              <a:t>• Стоимость: 5 000–25 000 ₽. Срок: 3–7 дней. Поддержка 2 нед. бесплатно.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О продукте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3. Область применения продукта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Способ применения: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E1E1E"/>
                </a:solidFill>
                <a:latin typeface="Georgia"/>
              </a:defRPr>
            </a:pPr>
            <a:r>
              <a:t>Бизнес получает готового Telegram-бота, который работает 24/7 внутри мессенджера — без отдельных приложений и сайтов.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Ниши применения: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Образование — продажа курсов, вебинаров, консультаций через воронки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Услуги — запись клиентов (салоны, репетиторы, консультанты), приём заявок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Товары — мини-магазины с каталогом, корзиной и оплатой прямо в Telegram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Выгоды для пользователей: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Автоматизация продаж и снижение нагрузки на персонал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Увеличение конверсии на 15–25%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Экономия на менеджерах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Простота для клиентов — всё внутри привычного Telegram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000"/>
            <a:ext cx="6032938" cy="47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dirty="0"/>
              <a:t>  </a:t>
            </a:r>
            <a:r>
              <a:rPr dirty="0" err="1"/>
              <a:t>Технологичность</a:t>
            </a:r>
            <a:r>
              <a:rPr dirty="0"/>
              <a:t> </a:t>
            </a:r>
            <a:r>
              <a:rPr dirty="0" err="1"/>
              <a:t>стартап-проекта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1. Техническое решение проекта, инновационность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Технологический стек: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Backend: Python + фреймворк aiogram для асинхронной работы с Telegram Bot API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Frontend-конструктор: веб-интерфейс (HTML/CSS/JS) для визуального проектирования логики бота методом drag &amp; drop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Модульная архитектура: набор готовых блоков — приветствие, кнопки, оплата, сбор данных, задержка, условия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Интеграции: ЮKassa API, СБП, Crypto-платежи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Инновационность: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Уникальная гибридная модель: клиент самостоятельно проектирует логику бота в визуальном конструкторе, а затем передаёт схему разработчику для профессиональной реализации. Это сочетание no-code подхода с персонализированной разработкой «под ключ» — модель, которую не предлагают конкуренты.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33000"/>
            <a:ext cx="6011917" cy="47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Технологичность стартап-проекта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2. Преимущества выбранного технического решения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Конструктор снижает порог входа: клиент описывает бота визуально, без технических знаний — это ускоряет коммуникацию и согласование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Шаблонный подход: типовые боты (визитка, заявки, магазин, FAQ) создаются за 2–3 дня, что обеспечивает высокую скорость вывода продукта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Низкая себестоимость: разработка одного бота занимает 2–3 дня при марже 50–70%, что делает бизнес-модель устойчивой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Масштабируемость: модульная архитектура позволяет быстро адаптировать решение под новые ниши без переписывания кода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Персонализация: в отличие от массовых конструкторов, каждый бот настраивается индивидуально под конкретный бизнес клиента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Технологичность стартап-проекта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3. Имеющийся задел для реализации проекта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Разработка (октябрь–ноябрь 2025):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Создано 2 MVP-бота для реальных клиентов (для коучей и товаров)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Настроена интеграция с Telegram Bot API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Запущена тестовая техподдержка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Разработан визуальный конструктор чат-ботов (веб-интерфейс)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Создан сайт-лендинг BotWork с описанием тарифов и конструктором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Тестирование рынка: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Заведено 3 целевых Telegram-канала для продвижения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Размещено 5 рекламных постов (бюджет 8 000 ₽)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Получено 15 лидов, закрыто 2 сделки (конверсия 13%)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Проведён анализ 5 конкурентов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Сформирован финансовый план и юнит-экономика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Технологичность стартап-проекта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4. Соответствие направлению национального проекта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0">
                <a:solidFill>
                  <a:srgbClr val="1E1E1E"/>
                </a:solidFill>
                <a:latin typeface="Georgia"/>
              </a:defRPr>
            </a:pPr>
            <a:r>
              <a:t>Проект соответствует направлению «Экономика данных» национального проекта технологического лидерства: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Развитие цифровых сервисов для бизнеса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Автоматизация бизнес-процессов с помощью ИТ-технологий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Повышение цифровой зрелости малого и среднего бизнеса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5. Интеллектуальная собственность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0">
                <a:solidFill>
                  <a:srgbClr val="1E1E1E"/>
                </a:solidFill>
                <a:latin typeface="Georgia"/>
              </a:defRPr>
            </a:pPr>
            <a:r>
              <a:t>На текущем этапе зарегистрированная ИС отсутствует.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1E1E1E"/>
                </a:solidFill>
                <a:latin typeface="Georgia"/>
              </a:defRPr>
            </a:pPr>
            <a:r>
              <a:t>Планируется регистрация программы для ЭВМ (визуальный конструктор ботов) в Роспатенте в течение первого года реализации проекта.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Аналоги и конкуренты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1. Существующие аналоги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BotHelp — конструктор чат-ботов и автоворонок. Средний чек 15 000–50 000 ₽. Требует самостоятельной настройки, сложный интерфейс.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SendPulse — маркетинговая платформа с модулем ботов. От 12 000 ₽/год. Широкий функционал, но избыточный для малого бизнеса.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Salebot — конструктор автоворонок в Telegram. От 10 000 ₽. Ориентирован на продвинутых пользователей.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PuzzleBot — визуальный конструктор ботов. От 990 ₽/мес. Ограниченный функционал в базовых тарифах.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D493D"/>
                </a:solidFill>
                <a:latin typeface="Georgia"/>
              </a:defRPr>
            </a:pPr>
            <a:r>
              <a:t>Все конкуренты предлагают инструменты для самостоятельной сборки ботов, но требуют значительных технических навыков или высокой абонентской платы. BotWork решает эту проблему, предлагая готовое решение «под ключ» по доступной цене.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Аналоги и конкуренты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2. Конкурентные преимущества продукта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0000" y="1250000"/>
          <a:ext cx="82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33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Критерий</a:t>
                      </a:r>
                    </a:p>
                  </a:txBody>
                  <a:tcPr>
                    <a:solidFill>
                      <a:srgbClr val="8F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BotWork</a:t>
                      </a:r>
                    </a:p>
                  </a:txBody>
                  <a:tcPr>
                    <a:solidFill>
                      <a:srgbClr val="8F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BotHelp</a:t>
                      </a:r>
                    </a:p>
                  </a:txBody>
                  <a:tcPr>
                    <a:solidFill>
                      <a:srgbClr val="8F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SendPulse</a:t>
                      </a:r>
                    </a:p>
                  </a:txBody>
                  <a:tcPr>
                    <a:solidFill>
                      <a:srgbClr val="8F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Salebot</a:t>
                      </a:r>
                    </a:p>
                  </a:txBody>
                  <a:tcPr>
                    <a:solidFill>
                      <a:srgbClr val="8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5–25 тыс. 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15–50 тыс. 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12 тыс.+ ₽/год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10 тыс.+ 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Персонализация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Да, под 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Нет, шаблоны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Частично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Поддержка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2 нед. бесплатно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Платная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Тикеты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Платная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Срок запуска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3–7 дней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Самостоятельно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Самостоятельно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Самостоятельно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33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Конструктор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1E1E"/>
                          </a:solidFill>
                          <a:latin typeface="Georgia"/>
                        </a:defRPr>
                      </a:pPr>
                      <a:r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0000" y="4600000"/>
            <a:ext cx="8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8F00FF"/>
                </a:solidFill>
                <a:latin typeface="Georgia"/>
              </a:defRPr>
            </a:pPr>
            <a:r>
              <a:t>Уникальное ценностное предложение: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Персонализированные Telegram-боты «под ключ» по цене в 2–3 раза ниже рынка, с бесплатной поддержкой и запуском за 3–7 дней. Клиент получает готовое решение, а не инструмент, который нужно осваивать.</a:t>
            </a:r>
          </a:p>
        </p:txBody>
      </p:sp>
      <p:pic>
        <p:nvPicPr>
          <p:cNvPr id="11" name="Picture 10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2" name="Picture 11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Аналоги и конкуренты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3. Востребованность продукта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Подтверждённый спрос: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15 лидов получено через 3 Telegram-канала за первые 2 месяца работы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2 сделки закрыты (конверсия лид → продажа = 13%)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Доход за стартовый период: 30 000 ₽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Обратная связь от клиентов: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«Наконец-то доступная цена за бота — не нужно платить 50 тысяч»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«Не нужно разбираться самому — просто объяснил что нужно и получил готовый бот»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Объективные факторы: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50 000–70 000 предпринимателей в РФ активно используют Telegram для продаж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Рост интереса к автоматизации продаж в Telegram: +40% поисковых запросов за 2024–2025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MAU Telegram в РФ превышает 100 млн пользователей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Рынок и потребитель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1. Область применения продукта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Основные направления использования: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Воронки продаж — автоматическая последовательность сообщений, ведущая клиента к покупке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Запись на услуги — бот для салонов красоты, репетиторов, консультантов с выбором даты/времени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Мини-магазины — каталог товаров с корзиной и онлайн-оплатой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FAQ-боты — автоматические ответы на частые вопросы, снижение нагрузки на поддержку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Рассылки — информирование клиентской базы о новинках и акциях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Сбор заявок — автоматический приём и маршрутизация заявок менеджерам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• Чат-поддержка — первичная обработка обращений с передачей живому оператору при необходимости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Дополнительные применения: геймификация, программы лояльности, агрегация отзывов, внутренние корпоративные боты.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Рынок и потребитель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2. Рынок, сегмент рынка, потенциальный потребитель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333333"/>
                </a:solidFill>
                <a:latin typeface="Georgia"/>
              </a:defRPr>
            </a:pPr>
            <a:r>
              <a:t>TAM (Total Addressable Market):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~4,5 млн субъектов МСП в России. Потенциальный интерес к автоматизации через Telegram — ~500 000 компаний.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333333"/>
                </a:solidFill>
                <a:latin typeface="Georgia"/>
              </a:defRPr>
            </a:pPr>
            <a:r>
              <a:t>SAM (Serviceable Available Market):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~50 000–70 000 предпринимателей, активно использующих Telegram для продаж (Россия, СНГ). Ниши: образование, услуги, товары.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333333"/>
                </a:solidFill>
                <a:latin typeface="Georgia"/>
              </a:defRPr>
            </a:pPr>
            <a:r>
              <a:t>SOM (Serviceable Obtainable Market):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50–100 клиентов в первый год, 300+ клиентов к третьему году.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Портрет потребителя: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Владелец малого бизнеса (ИП/ООО), 25–45 лет, ведёт продажи через Telegram, оборот до 5 млн ₽/год. Ищет доступную автоматизацию без необходимости технических знаний.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333333"/>
                </a:solidFill>
                <a:latin typeface="Georgia"/>
              </a:defRPr>
            </a:pPr>
            <a:r>
              <a:t>Тренды: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Рост Telegram-коммерции +40% в год. MAU Telegram в РФ &gt; 100 млн. Тренд на автоматизацию рутинных бизнес-процессов.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География: Россия, СНГ (русскоязычная аудитория).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Рынок и потребитель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3. Возможные барьеры для выхода на рынок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1E1E1E"/>
                </a:solidFill>
                <a:latin typeface="Georgia"/>
              </a:defRPr>
            </a:pPr>
            <a:r>
              <a:t>1. Высокая конкуренция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На рынке присутствуют крупные игроки (BotHelp, SendPulse) с большими бюджетами.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D493D"/>
                </a:solidFill>
                <a:latin typeface="Georgia"/>
              </a:defRPr>
            </a:pPr>
            <a:r>
              <a:t>→ Преодоление: конкурируем ценой (в 2–3 раза ниже), персонализацией и качеством поддержки.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1E1E1E"/>
                </a:solidFill>
                <a:latin typeface="Georgia"/>
              </a:defRPr>
            </a:pPr>
            <a:r>
              <a:t>2. Низкий порог входа на рынок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Легко появляются новые мелкие конкуренты.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D493D"/>
                </a:solidFill>
                <a:latin typeface="Georgia"/>
              </a:defRPr>
            </a:pPr>
            <a:r>
              <a:t>→ Преодоление: накопление клиентской базы, репутация, повторные продажи (доля повторных клиентов — до 30%).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1E1E1E"/>
                </a:solidFill>
                <a:latin typeface="Georgia"/>
              </a:defRPr>
            </a:pPr>
            <a:r>
              <a:t>3. Зависимость от Telegram API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Изменения в API могут потребовать доработки ботов.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D493D"/>
                </a:solidFill>
                <a:latin typeface="Georgia"/>
              </a:defRPr>
            </a:pPr>
            <a:r>
              <a:t>→ Преодоление: мониторинг изменений, модульная архитектура для быстрой адаптации.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1E1E1E"/>
                </a:solidFill>
                <a:latin typeface="Georgia"/>
              </a:defRPr>
            </a:pPr>
            <a:r>
              <a:t>4. Ограниченный бюджет на маркетинг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D493D"/>
                </a:solidFill>
                <a:latin typeface="Georgia"/>
              </a:defRPr>
            </a:pPr>
            <a:r>
              <a:t>→ Преодоление: бесплатные каналы (Telegram-каналы, холодные лиды), сотрудничество с микро-инфлюенсерами (2 000–5 000 ₽ за пост).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План реализации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40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E1E1E"/>
                </a:solidFill>
                <a:latin typeface="Georgia"/>
              </a:defRPr>
            </a:pPr>
            <a:r>
              <a:t>Направления плана: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t>1. Ключевая техническая задача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MVP → рассылки и аналитика → SaaS-конструктор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t>2. Ресурсы проекта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Команда 3 чел., хостинг, домен, рекламный бюджет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t>3. Затраты на реализацию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0 мес: 20 000 ₽ | 3 мес: 45 000 ₽ | 12 мес: 60 000 ₽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t>4. Формирование команды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0 мес: 3 чел. | 12 мес: +1 разработчик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t>5. Способ получения дохода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Разовая оплата 5–25 тыс. ₽ + доработки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00" y="750000"/>
            <a:ext cx="4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E1E1E"/>
                </a:solidFill>
                <a:latin typeface="Georgia"/>
              </a:defRPr>
            </a:pPr>
            <a:r>
              <a:t>Таймлайн: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FCAF17"/>
                </a:solidFill>
                <a:latin typeface="Georgia"/>
              </a:defRPr>
            </a:pPr>
            <a:r>
              <a:t>Старт (Q4 2025):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2 MVP-бота, конструктор, сайт, 2 продажи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D493D"/>
                </a:solidFill>
                <a:latin typeface="Georgia"/>
              </a:defRPr>
            </a:pPr>
            <a:r>
              <a:t>Доход: 30 000 ₽ | Расходы: 20 000 ₽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FCAF17"/>
                </a:solidFill>
                <a:latin typeface="Georgia"/>
              </a:defRPr>
            </a:pPr>
            <a:r>
              <a:t>3 месяца (Q1 2026):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Рассылки, аналитика, интеграция платежей, 8 ботов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D493D"/>
                </a:solidFill>
                <a:latin typeface="Georgia"/>
              </a:defRPr>
            </a:pPr>
            <a:r>
              <a:t>Доход: 120 000 ₽ | Расходы: 45 000 ₽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Конверсия: 15%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FCAF17"/>
                </a:solidFill>
                <a:latin typeface="Georgia"/>
              </a:defRPr>
            </a:pPr>
            <a:r>
              <a:t>12 месяцев (Q3 2026):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Полная автоматизация, SaaS-конструктор, 25 ботов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D493D"/>
                </a:solidFill>
                <a:latin typeface="Georgia"/>
              </a:defRPr>
            </a:pPr>
            <a:r>
              <a:t>Доход: 300 000 ₽ | Расходы: 60 000 ₽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1E1E"/>
                </a:solidFill>
                <a:latin typeface="Georgia"/>
              </a:defRPr>
            </a:pPr>
            <a:r>
              <a:t>Конверсия: 25% | Повторные клиенты: 30%</a:t>
            </a:r>
          </a:p>
        </p:txBody>
      </p:sp>
      <p:pic>
        <p:nvPicPr>
          <p:cNvPr id="10" name="Picture 9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1" name="Picture 10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Квалификация заявителя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1. Команда проекта, квалификация и опыт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8F00FF"/>
                </a:solidFill>
                <a:latin typeface="Georgia"/>
              </a:defRPr>
            </a:pPr>
            <a:r>
              <a:t>Артемий — Технический лидер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Разработка ботов, интеграции с API, техподдержка.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Дисциплины: программирование (Python), веб-разработка, базы данных.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8F00FF"/>
                </a:solidFill>
                <a:latin typeface="Georgia"/>
              </a:defRPr>
            </a:pPr>
            <a:r>
              <a:t>Денис — Маркетинг и продажи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Продвижение, лидогенерация, переговоры с клиентами.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Дисциплины: маркетинг, управление проектами.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8F00FF"/>
                </a:solidFill>
                <a:latin typeface="Georgia"/>
              </a:defRPr>
            </a:pPr>
            <a:r>
              <a:t>Борис — Старший разработчик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Разработка конструктора чат-ботов, ботов.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Дисциплины: программирование, UX/UI-дизайн.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2. Опыт реализации проектов по теме заявки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• Создано 2 MVP-бота для реальных клиентов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• Разработан визуальный конструктор чат-ботов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• Закрыто 2 сделки, доход 30 000 ₽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• Проведён анализ рынка и 5 конкурентов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000"/>
            <a:ext cx="5500000" cy="47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  Квалификация заявителя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0000"/>
            <a:ext cx="1800000" cy="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0" y="520000"/>
            <a:ext cx="1800000" cy="1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0" y="520000"/>
            <a:ext cx="1800000" cy="10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00000" y="520000"/>
            <a:ext cx="1800000" cy="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0" y="520000"/>
            <a:ext cx="1800000" cy="1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000" y="750000"/>
            <a:ext cx="8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3. Участие в программе «Стартап как диплом»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1E1E1E"/>
                </a:solidFill>
                <a:latin typeface="Georgia"/>
              </a:defRPr>
            </a:pPr>
            <a:r>
              <a:t>Участие в образовательных программах в области предпринимательства.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[Указать майнор, если применимо]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4. Участие в акселераторах, бизнес-инкубаторах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[Указать акселератор HSE, если применимо]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2000" b="1">
                <a:solidFill>
                  <a:srgbClr val="1E1E1E"/>
                </a:solidFill>
                <a:latin typeface="Georgia"/>
              </a:defRPr>
            </a:pPr>
            <a:r>
              <a:t>5. Участие в ПИШ / молодежной лаборатории / СКБ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[Указать, если применимо]</a:t>
            </a:r>
          </a:p>
        </p:txBody>
      </p:sp>
      <p:pic>
        <p:nvPicPr>
          <p:cNvPr id="9" name="Picture 8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0" name="Picture 9" descr="picture_right_corner_text_sli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0000" y="0"/>
            <a:ext cx="6200000" cy="1800000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0000" y="0"/>
            <a:ext cx="3900000" cy="1800000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00000" y="1800000"/>
            <a:ext cx="6200000" cy="5100000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00000" y="1800000"/>
            <a:ext cx="3900000" cy="5100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00000" y="5300000"/>
            <a:ext cx="2300000" cy="15600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00000" y="200000"/>
            <a:ext cx="3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Спасибо</a:t>
            </a:r>
          </a:p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за внимание!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1900000"/>
            <a:ext cx="2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E1E1E"/>
                </a:solidFill>
                <a:latin typeface="Georgia"/>
              </a:defRPr>
            </a:pPr>
            <a:r>
              <a:t>BotWork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Номер заявки: _______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1E1E"/>
                </a:solidFill>
                <a:latin typeface="Georgia"/>
              </a:defRPr>
            </a:pPr>
            <a:r>
              <a:t>ФИО: Репин Артемий, Мартынов Борис, Харисов Денис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0" y="2000000"/>
            <a:ext cx="3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1E1E"/>
                </a:solidFill>
                <a:latin typeface="Georgia"/>
              </a:defRPr>
            </a:pPr>
            <a:r>
              <a:t>Почта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[email]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1E1E1E"/>
                </a:solidFill>
                <a:latin typeface="Georgia"/>
              </a:defRPr>
            </a:pPr>
            <a:r>
              <a:t>Телефон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[телефон]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E1E1E"/>
                </a:solidFill>
                <a:latin typeface="Georgia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1E1E1E"/>
                </a:solidFill>
                <a:latin typeface="Georgia"/>
              </a:defRPr>
            </a:pPr>
            <a:r>
              <a:t>Telegram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Georgia"/>
              </a:defRPr>
            </a:pPr>
            <a:r>
              <a:t>@borysikkk</a:t>
            </a:r>
          </a:p>
        </p:txBody>
      </p:sp>
      <p:pic>
        <p:nvPicPr>
          <p:cNvPr id="10" name="Picture 9" descr="picture_left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" y="5770000"/>
            <a:ext cx="1670000" cy="820000"/>
          </a:xfrm>
          <a:prstGeom prst="rect">
            <a:avLst/>
          </a:prstGeom>
        </p:spPr>
      </p:pic>
      <p:pic>
        <p:nvPicPr>
          <p:cNvPr id="11" name="Picture 10" descr="picture_right_corner_first_l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0" y="5370000"/>
            <a:ext cx="1634000" cy="128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1811</Words>
  <Application>Microsoft Macintosh PowerPoint</Application>
  <PresentationFormat>On-screen Show (4:3)</PresentationFormat>
  <Paragraphs>279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 Артемий Репин</cp:lastModifiedBy>
  <cp:revision>2</cp:revision>
  <dcterms:created xsi:type="dcterms:W3CDTF">2013-01-27T09:14:16Z</dcterms:created>
  <dcterms:modified xsi:type="dcterms:W3CDTF">2026-03-10T20:33:19Z</dcterms:modified>
  <cp:category/>
</cp:coreProperties>
</file>